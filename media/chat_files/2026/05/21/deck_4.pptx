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edge_band"/>
          <p:cNvSpPr/>
          <p:nvPr/>
        </p:nvSpPr>
        <p:spPr>
          <a:xfrm>
            <a:off x="12027407" y="0"/>
            <a:ext cx="164592" cy="6858000"/>
          </a:xfrm>
          <a:prstGeom prst="rect">
            <a:avLst/>
          </a:prstGeom>
          <a:solidFill>
            <a:srgbClr val="173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:title"/>
          <p:cNvSpPr txBox="1"/>
          <p:nvPr/>
        </p:nvSpPr>
        <p:spPr>
          <a:xfrm>
            <a:off x="777240" y="502920"/>
            <a:ext cx="1037844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800" b="1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گردشگری و تعامل جهانی</a:t>
            </a:r>
          </a:p>
        </p:txBody>
      </p:sp>
      <p:sp>
        <p:nvSpPr>
          <p:cNvPr id="4" name="decor:title_accent"/>
          <p:cNvSpPr/>
          <p:nvPr/>
        </p:nvSpPr>
        <p:spPr>
          <a:xfrm>
            <a:off x="10835640" y="1170432"/>
            <a:ext cx="329184" cy="54864"/>
          </a:xfrm>
          <a:prstGeom prst="rect">
            <a:avLst/>
          </a:prstGeom>
          <a:solidFill>
            <a:srgbClr val="D9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:content_card"/>
          <p:cNvSpPr/>
          <p:nvPr/>
        </p:nvSpPr>
        <p:spPr>
          <a:xfrm>
            <a:off x="822960" y="1600200"/>
            <a:ext cx="10561320" cy="443484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D7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:bullets"/>
          <p:cNvSpPr txBox="1"/>
          <p:nvPr/>
        </p:nvSpPr>
        <p:spPr>
          <a:xfrm>
            <a:off x="1143000" y="1901952"/>
            <a:ext cx="9875520" cy="3794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تسهیل سفر ایرانیان به کشورهای دیگر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ارتباط بهتر گردشگران خارجی با جامعهٔ میزبان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بهبود تجربهٔ سفر، خدمات و ارتباطات بین‌المللی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edge_band"/>
          <p:cNvSpPr/>
          <p:nvPr/>
        </p:nvSpPr>
        <p:spPr>
          <a:xfrm>
            <a:off x="12027407" y="0"/>
            <a:ext cx="164592" cy="6858000"/>
          </a:xfrm>
          <a:prstGeom prst="rect">
            <a:avLst/>
          </a:prstGeom>
          <a:solidFill>
            <a:srgbClr val="173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:title"/>
          <p:cNvSpPr txBox="1"/>
          <p:nvPr/>
        </p:nvSpPr>
        <p:spPr>
          <a:xfrm>
            <a:off x="777240" y="502920"/>
            <a:ext cx="1037844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800" b="1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چرا یادگیری انگلیسی مهم است؟</a:t>
            </a:r>
          </a:p>
        </p:txBody>
      </p:sp>
      <p:sp>
        <p:nvSpPr>
          <p:cNvPr id="4" name="decor:title_accent"/>
          <p:cNvSpPr/>
          <p:nvPr/>
        </p:nvSpPr>
        <p:spPr>
          <a:xfrm>
            <a:off x="10835640" y="1170432"/>
            <a:ext cx="329184" cy="54864"/>
          </a:xfrm>
          <a:prstGeom prst="rect">
            <a:avLst/>
          </a:prstGeom>
          <a:solidFill>
            <a:srgbClr val="D9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:content_card"/>
          <p:cNvSpPr/>
          <p:nvPr/>
        </p:nvSpPr>
        <p:spPr>
          <a:xfrm>
            <a:off x="822960" y="1600200"/>
            <a:ext cx="10561320" cy="443484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D7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:bullets"/>
          <p:cNvSpPr txBox="1"/>
          <p:nvPr/>
        </p:nvSpPr>
        <p:spPr>
          <a:xfrm>
            <a:off x="1143000" y="1901952"/>
            <a:ext cx="9875520" cy="3794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انگلیسی امروز فقط یک مهارت لوکس نیست؛ یک نیاز واقعی است.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ارتباطات جهانی، نیاز به زبان مشترک را بیشتر کرده‌اند.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ایران با جمعیت جوان و ارتباطات رو به رشد، به این مهارت نیاز جدی دارد.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تسلط به انگلیسی در تحصیل، کار و زندگی روزمره اثر مستقیم دارد.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edge_band"/>
          <p:cNvSpPr/>
          <p:nvPr/>
        </p:nvSpPr>
        <p:spPr>
          <a:xfrm>
            <a:off x="12027407" y="0"/>
            <a:ext cx="164592" cy="6858000"/>
          </a:xfrm>
          <a:prstGeom prst="rect">
            <a:avLst/>
          </a:prstGeom>
          <a:solidFill>
            <a:srgbClr val="173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:title"/>
          <p:cNvSpPr txBox="1"/>
          <p:nvPr/>
        </p:nvSpPr>
        <p:spPr>
          <a:xfrm>
            <a:off x="777240" y="502920"/>
            <a:ext cx="1037844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800" b="1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نقش انگلیسی در آموزش و دانشگاه</a:t>
            </a:r>
          </a:p>
        </p:txBody>
      </p:sp>
      <p:sp>
        <p:nvSpPr>
          <p:cNvPr id="4" name="decor:title_accent"/>
          <p:cNvSpPr/>
          <p:nvPr/>
        </p:nvSpPr>
        <p:spPr>
          <a:xfrm>
            <a:off x="10835640" y="1170432"/>
            <a:ext cx="329184" cy="54864"/>
          </a:xfrm>
          <a:prstGeom prst="rect">
            <a:avLst/>
          </a:prstGeom>
          <a:solidFill>
            <a:srgbClr val="D9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:content_card"/>
          <p:cNvSpPr/>
          <p:nvPr/>
        </p:nvSpPr>
        <p:spPr>
          <a:xfrm>
            <a:off x="822960" y="1600200"/>
            <a:ext cx="10561320" cy="443484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D7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:bullets"/>
          <p:cNvSpPr txBox="1"/>
          <p:nvPr/>
        </p:nvSpPr>
        <p:spPr>
          <a:xfrm>
            <a:off x="1143000" y="1901952"/>
            <a:ext cx="9875520" cy="3794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بخش بزرگی از منابع علمی معتبر به زبان انگلیسی منتشر می‌شود.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دانشجویان برای مقاله‌ها، کتاب‌ها و پژوهش‌های جدید به این زبان نیاز دارند.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ترجمه‌ها همیشه کامل، سریع یا باکیفیت نیستند.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برای ادامه تحصیل در خارج از کشور و آزمون‌هایی مثل IELTS و TOEFL، تسلط به انگلیسی ضروری است.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edge_band"/>
          <p:cNvSpPr/>
          <p:nvPr/>
        </p:nvSpPr>
        <p:spPr>
          <a:xfrm>
            <a:off x="12027407" y="0"/>
            <a:ext cx="164592" cy="6858000"/>
          </a:xfrm>
          <a:prstGeom prst="rect">
            <a:avLst/>
          </a:prstGeom>
          <a:solidFill>
            <a:srgbClr val="173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:title"/>
          <p:cNvSpPr txBox="1"/>
          <p:nvPr/>
        </p:nvSpPr>
        <p:spPr>
          <a:xfrm>
            <a:off x="777240" y="502920"/>
            <a:ext cx="1037844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800" b="1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اهمیت انگلیسی در بازار کار</a:t>
            </a:r>
          </a:p>
        </p:txBody>
      </p:sp>
      <p:sp>
        <p:nvSpPr>
          <p:cNvPr id="4" name="decor:title_accent"/>
          <p:cNvSpPr/>
          <p:nvPr/>
        </p:nvSpPr>
        <p:spPr>
          <a:xfrm>
            <a:off x="10835640" y="1170432"/>
            <a:ext cx="329184" cy="54864"/>
          </a:xfrm>
          <a:prstGeom prst="rect">
            <a:avLst/>
          </a:prstGeom>
          <a:solidFill>
            <a:srgbClr val="D9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:content_card"/>
          <p:cNvSpPr/>
          <p:nvPr/>
        </p:nvSpPr>
        <p:spPr>
          <a:xfrm>
            <a:off x="822960" y="1600200"/>
            <a:ext cx="10561320" cy="443484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D7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:bullets"/>
          <p:cNvSpPr txBox="1"/>
          <p:nvPr/>
        </p:nvSpPr>
        <p:spPr>
          <a:xfrm>
            <a:off x="1143000" y="1901952"/>
            <a:ext cx="9875520" cy="3794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شرکت‌ها به نیروهایی نیاز دارند که بتوانند با منابع و مکاتبات انگلیسی کار کنند.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انگلیسی در ایمیل‌های اداری، جلسات و همکاری‌های بین‌المللی کاربرد دارد.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حتی کسب‌وکارهای کوچک و استارتاپ‌ها هم به این مهارت نیاز دارند.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در حوزه‌هایی مثل برنامه‌نویسی، بازاریابی، پزشکی و مدیریت، محتوای تخصصی عمدتاً انگلیسی است.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edge_band"/>
          <p:cNvSpPr/>
          <p:nvPr/>
        </p:nvSpPr>
        <p:spPr>
          <a:xfrm>
            <a:off x="12027407" y="0"/>
            <a:ext cx="164592" cy="6858000"/>
          </a:xfrm>
          <a:prstGeom prst="rect">
            <a:avLst/>
          </a:prstGeom>
          <a:solidFill>
            <a:srgbClr val="173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:title"/>
          <p:cNvSpPr txBox="1"/>
          <p:nvPr/>
        </p:nvSpPr>
        <p:spPr>
          <a:xfrm>
            <a:off x="777240" y="502920"/>
            <a:ext cx="1037844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800" b="1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نقش انگلیسی در اقتصاد دیجیتال و فناوری</a:t>
            </a:r>
          </a:p>
        </p:txBody>
      </p:sp>
      <p:sp>
        <p:nvSpPr>
          <p:cNvPr id="4" name="decor:title_accent"/>
          <p:cNvSpPr/>
          <p:nvPr/>
        </p:nvSpPr>
        <p:spPr>
          <a:xfrm>
            <a:off x="10835640" y="1170432"/>
            <a:ext cx="329184" cy="54864"/>
          </a:xfrm>
          <a:prstGeom prst="rect">
            <a:avLst/>
          </a:prstGeom>
          <a:solidFill>
            <a:srgbClr val="D9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:content_card"/>
          <p:cNvSpPr/>
          <p:nvPr/>
        </p:nvSpPr>
        <p:spPr>
          <a:xfrm>
            <a:off x="822960" y="1600200"/>
            <a:ext cx="10561320" cy="443484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D7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:bullets"/>
          <p:cNvSpPr txBox="1"/>
          <p:nvPr/>
        </p:nvSpPr>
        <p:spPr>
          <a:xfrm>
            <a:off x="1143000" y="1901952"/>
            <a:ext cx="9875520" cy="3794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بسیاری از نرم‌افزارها، ابزارهای فناوری و محیط‌های برنامه‌نویسی به انگلیسی هستند.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دوره‌های آنلاین معتبر مانند Coursera، Udemy و edX اغلب انگلیسی‌اند.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تسلط به زبان انگلیسی دسترسی به منابع آموزشی و حرفه‌ای را بسیار گسترده‌تر می‌کند.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در شبکه‌های اجتماعی و پلتفرم‌های جهانی، انگلیسی فرصت‌های جدیدی برای ارتباط و رشد ایجاد می‌کند.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edge_band"/>
          <p:cNvSpPr/>
          <p:nvPr/>
        </p:nvSpPr>
        <p:spPr>
          <a:xfrm>
            <a:off x="12027407" y="0"/>
            <a:ext cx="164592" cy="6858000"/>
          </a:xfrm>
          <a:prstGeom prst="rect">
            <a:avLst/>
          </a:prstGeom>
          <a:solidFill>
            <a:srgbClr val="173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:title"/>
          <p:cNvSpPr txBox="1"/>
          <p:nvPr/>
        </p:nvSpPr>
        <p:spPr>
          <a:xfrm>
            <a:off x="777240" y="502920"/>
            <a:ext cx="1037844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800" b="1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تأثیر فرهنگی و اجتماعی</a:t>
            </a:r>
          </a:p>
        </p:txBody>
      </p:sp>
      <p:sp>
        <p:nvSpPr>
          <p:cNvPr id="4" name="decor:title_accent"/>
          <p:cNvSpPr/>
          <p:nvPr/>
        </p:nvSpPr>
        <p:spPr>
          <a:xfrm>
            <a:off x="10835640" y="1170432"/>
            <a:ext cx="329184" cy="54864"/>
          </a:xfrm>
          <a:prstGeom prst="rect">
            <a:avLst/>
          </a:prstGeom>
          <a:solidFill>
            <a:srgbClr val="D9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:content_card"/>
          <p:cNvSpPr/>
          <p:nvPr/>
        </p:nvSpPr>
        <p:spPr>
          <a:xfrm>
            <a:off x="822960" y="1600200"/>
            <a:ext cx="10561320" cy="443484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D7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:bullets"/>
          <p:cNvSpPr txBox="1"/>
          <p:nvPr/>
        </p:nvSpPr>
        <p:spPr>
          <a:xfrm>
            <a:off x="1143000" y="1901952"/>
            <a:ext cx="9875520" cy="3794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یادگیری انگلیسی دریچه‌ای به سوی فرهنگ‌ها و دیدگاه‌های جدید باز می‌کند.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تماشای فیلم‌ها و خواندن کتاب‌های اصلی، فهم عمیق‌تری از جهان می‌دهد.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این مهارت اعتمادبه‌نفس فرد را در تعاملات اجتماعی و بین‌المللی افزایش می‌دهد.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آشنایی با زبان بین‌المللی، ارتباط بین‌فرهنگی را تقویت می‌کند.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edge_band"/>
          <p:cNvSpPr/>
          <p:nvPr/>
        </p:nvSpPr>
        <p:spPr>
          <a:xfrm>
            <a:off x="12027407" y="0"/>
            <a:ext cx="164592" cy="6858000"/>
          </a:xfrm>
          <a:prstGeom prst="rect">
            <a:avLst/>
          </a:prstGeom>
          <a:solidFill>
            <a:srgbClr val="173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:title"/>
          <p:cNvSpPr txBox="1"/>
          <p:nvPr/>
        </p:nvSpPr>
        <p:spPr>
          <a:xfrm>
            <a:off x="777240" y="502920"/>
            <a:ext cx="1037844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800" b="1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جمع‌بندی</a:t>
            </a:r>
          </a:p>
        </p:txBody>
      </p:sp>
      <p:sp>
        <p:nvSpPr>
          <p:cNvPr id="4" name="decor:title_accent"/>
          <p:cNvSpPr/>
          <p:nvPr/>
        </p:nvSpPr>
        <p:spPr>
          <a:xfrm>
            <a:off x="10835640" y="1170432"/>
            <a:ext cx="329184" cy="54864"/>
          </a:xfrm>
          <a:prstGeom prst="rect">
            <a:avLst/>
          </a:prstGeom>
          <a:solidFill>
            <a:srgbClr val="D9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:content_card"/>
          <p:cNvSpPr/>
          <p:nvPr/>
        </p:nvSpPr>
        <p:spPr>
          <a:xfrm>
            <a:off x="822960" y="1600200"/>
            <a:ext cx="10561320" cy="4434840"/>
          </a:xfrm>
          <a:prstGeom prst="roundRect">
            <a:avLst/>
          </a:prstGeom>
          <a:solidFill>
            <a:srgbClr val="FFFFFC"/>
          </a:solidFill>
          <a:ln w="12700">
            <a:solidFill>
              <a:srgbClr val="D7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:bullets"/>
          <p:cNvSpPr txBox="1"/>
          <p:nvPr/>
        </p:nvSpPr>
        <p:spPr>
          <a:xfrm>
            <a:off x="1143000" y="1901952"/>
            <a:ext cx="9875520" cy="3794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یادگیری زبان انگلیسی در ایران یک ضرورت فردی و ملی است.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این مهارت در آموزش، شغل، فناوری، گردشگری و ارتباطات بین‌المللی نقش کلیدی دارد.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افرادی که انگلیسی می‌دانند، فرصت‌های بیشتری برای رشد و پیشرفت دارند.</a:t>
            </a:r>
          </a:p>
          <a:p>
            <a:pPr algn="r" rtl="1"/>
            <a:r>
              <a:rPr sz="2100" b="0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• انگلیسی می‌تواند پلی به سوی آینده‌ای بهتر برای جوانان ایرانی باشد.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edge_band"/>
          <p:cNvSpPr/>
          <p:nvPr/>
        </p:nvSpPr>
        <p:spPr>
          <a:xfrm>
            <a:off x="12027407" y="0"/>
            <a:ext cx="164592" cy="6858000"/>
          </a:xfrm>
          <a:prstGeom prst="rect">
            <a:avLst/>
          </a:prstGeom>
          <a:solidFill>
            <a:srgbClr val="173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:soft_block"/>
          <p:cNvSpPr/>
          <p:nvPr/>
        </p:nvSpPr>
        <p:spPr>
          <a:xfrm>
            <a:off x="640080" y="685800"/>
            <a:ext cx="4572000" cy="5349240"/>
          </a:xfrm>
          <a:prstGeom prst="roundRect">
            <a:avLst/>
          </a:prstGeom>
          <a:solidFill>
            <a:srgbClr val="EA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:pill"/>
          <p:cNvSpPr/>
          <p:nvPr/>
        </p:nvSpPr>
        <p:spPr>
          <a:xfrm>
            <a:off x="8321040" y="914400"/>
            <a:ext cx="2194560" cy="347472"/>
          </a:xfrm>
          <a:prstGeom prst="round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99A3D"/>
                </a:solidFill>
                <a:latin typeface="Vazirmatn"/>
              </a:rPr>
              <a:t>GAPGPT PRESENTATION</a:t>
            </a:r>
          </a:p>
        </p:txBody>
      </p:sp>
      <p:sp>
        <p:nvSpPr>
          <p:cNvPr id="5" name="ph:eyebrow"/>
          <p:cNvSpPr txBox="1"/>
          <p:nvPr/>
        </p:nvSpPr>
        <p:spPr>
          <a:xfrm>
            <a:off x="6492240" y="1325880"/>
            <a:ext cx="416052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1200" b="1" lang="fa-IR" rtl="1">
                <a:solidFill>
                  <a:srgbClr val="D99A3D"/>
                </a:solidFill>
                <a:latin typeface="Vazirmatn"/>
                <a:ea typeface="Vazirmatn"/>
                <a:cs typeface="Vazirmatn"/>
              </a:rPr>
              <a:t>پاورپوینت قابل ویرایش</a:t>
            </a:r>
          </a:p>
        </p:txBody>
      </p:sp>
      <p:sp>
        <p:nvSpPr>
          <p:cNvPr id="6" name="ph:title"/>
          <p:cNvSpPr txBox="1"/>
          <p:nvPr/>
        </p:nvSpPr>
        <p:spPr>
          <a:xfrm>
            <a:off x="1920240" y="1965960"/>
            <a:ext cx="8732520" cy="11430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3800" b="1" lang="fa-IR" rtl="1">
                <a:solidFill>
                  <a:srgbClr val="173B33"/>
                </a:solidFill>
                <a:latin typeface="Vazirmatn"/>
                <a:ea typeface="Vazirmatn"/>
                <a:cs typeface="Vazirmatn"/>
              </a:rPr>
              <a:t>اهمیت یادگیری زبان انگلیسی در ایران</a:t>
            </a:r>
          </a:p>
        </p:txBody>
      </p:sp>
      <p:sp>
        <p:nvSpPr>
          <p:cNvPr id="7" name="ph:subtitle"/>
          <p:cNvSpPr txBox="1"/>
          <p:nvPr/>
        </p:nvSpPr>
        <p:spPr>
          <a:xfrm>
            <a:off x="3017520" y="3246120"/>
            <a:ext cx="7635240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 rtl="1"/>
            <a:r>
              <a:rPr sz="1700" b="0" lang="fa-IR" rtl="1">
                <a:solidFill>
                  <a:srgbClr val="437C68"/>
                </a:solidFill>
                <a:latin typeface="Vazirmatn"/>
                <a:ea typeface="Vazirmatn"/>
                <a:cs typeface="Vazirmatn"/>
              </a:rPr>
              <a:t>چرا انگلیسی به یک ضرورت آموزشی، شغلی و اجتماعی تبدیل شده است؟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